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7"/>
    <p:sldId id="269" r:id="rId6"/>
    <p:sldId id="270" r:id="rId5"/>
    <p:sldId id="271" r:id="rId4"/>
    <p:sldId id="272" r:id="rId3"/>
    <p:sldId id="273" r:id="rId24"/>
    <p:sldId id="274" r:id="rId25"/>
    <p:sldId id="275" r:id="rId26"/>
    <p:sldId id="276" r:id="rId27"/>
    <p:sldId id="277" r:id="rId28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正恩 葉" userId="878a55310cb7ef76" providerId="LiveId" clId="{4C6B2640-48A3-4206-96D7-CAFE7BF8DBCD}"/>
    <pc:docChg chg="undo custSel delSld modSld">
      <pc:chgData name="正恩 葉" userId="878a55310cb7ef76" providerId="LiveId" clId="{4C6B2640-48A3-4206-96D7-CAFE7BF8DBCD}" dt="2026-09-16T09:45:18.050" v="80" actId="47"/>
      <pc:docMkLst>
        <pc:docMk/>
      </pc:docMkLst>
      <pc:sldChg chg="addSp delSp modSp mod">
        <pc:chgData name="正恩 葉" userId="878a55310cb7ef76" providerId="LiveId" clId="{4C6B2640-48A3-4206-96D7-CAFE7BF8DBCD}" dt="2026-09-16T08:33:42.454" v="77" actId="20577"/>
        <pc:sldMkLst>
          <pc:docMk/>
          <pc:sldMk cId="0" sldId="256"/>
        </pc:sldMkLst>
        <pc:spChg chg="del">
          <ac:chgData name="正恩 葉" userId="878a55310cb7ef76" providerId="LiveId" clId="{4C6B2640-48A3-4206-96D7-CAFE7BF8DBCD}" dt="2026-09-15T16:40:10.414" v="2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正恩 葉" userId="878a55310cb7ef76" providerId="LiveId" clId="{4C6B2640-48A3-4206-96D7-CAFE7BF8DBCD}" dt="2026-09-16T08:33:42.454" v="77" actId="20577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正恩 葉" userId="878a55310cb7ef76" providerId="LiveId" clId="{4C6B2640-48A3-4206-96D7-CAFE7BF8DBCD}" dt="2026-09-15T16:40:31.510" v="67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正恩 葉" userId="878a55310cb7ef76" providerId="LiveId" clId="{4C6B2640-48A3-4206-96D7-CAFE7BF8DBCD}" dt="2026-09-15T16:40:20.491" v="41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正恩 葉" userId="878a55310cb7ef76" providerId="LiveId" clId="{4C6B2640-48A3-4206-96D7-CAFE7BF8DBCD}" dt="2026-09-15T16:39:12.515" v="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正恩 葉" userId="878a55310cb7ef76" providerId="LiveId" clId="{4C6B2640-48A3-4206-96D7-CAFE7BF8DBCD}" dt="2026-09-15T16:51:36.718" v="70" actId="20577"/>
        <pc:sldMkLst>
          <pc:docMk/>
          <pc:sldMk cId="0" sldId="257"/>
        </pc:sldMkLst>
        <pc:graphicFrameChg chg="modGraphic">
          <ac:chgData name="正恩 葉" userId="878a55310cb7ef76" providerId="LiveId" clId="{4C6B2640-48A3-4206-96D7-CAFE7BF8DBCD}" dt="2026-09-15T16:51:36.718" v="70" actId="20577"/>
          <ac:graphicFrameMkLst>
            <pc:docMk/>
            <pc:sldMk cId="0" sldId="257"/>
            <ac:graphicFrameMk id="6" creationId="{00000000-0000-0000-0000-000000000000}"/>
          </ac:graphicFrameMkLst>
        </pc:graphicFrameChg>
      </pc:sldChg>
      <pc:sldChg chg="modSp del mod">
        <pc:chgData name="正恩 葉" userId="878a55310cb7ef76" providerId="LiveId" clId="{4C6B2640-48A3-4206-96D7-CAFE7BF8DBCD}" dt="2026-09-16T09:45:18.050" v="80" actId="47"/>
        <pc:sldMkLst>
          <pc:docMk/>
          <pc:sldMk cId="0" sldId="273"/>
        </pc:sldMkLst>
        <pc:picChg chg="mod">
          <ac:chgData name="正恩 葉" userId="878a55310cb7ef76" providerId="LiveId" clId="{4C6B2640-48A3-4206-96D7-CAFE7BF8DBCD}" dt="2026-09-16T09:44:52.247" v="79" actId="14100"/>
          <ac:picMkLst>
            <pc:docMk/>
            <pc:sldMk cId="0" sldId="273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台股股價／財報因子 × 機器學習做多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00000"/>
            <a:ext cx="11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Y+30 top5% LGBM · 開盤 · 等權 · ranking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564405"/>
            <a:ext cx="110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樣本外持有期 Sharpe ≈ 2.56（test 段 2023-09-13～2026-06-16）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275868"/>
            <a:ext cx="11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全樣本（2018-03-09～2026-06-16）依日曆平分三段：train～2020-12-10／valid～2023-09-13／test 2023-09-13～2026-06-16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700000"/>
            <a:ext cx="11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財報＋價量 → 合成分數 → 買流動性池前 top5% → 開盤進出、持有 Y+30。季報截止日 3/31、5/15、8/14、11/14（3/31＝年報／Q4）；截止日後第一個再平衡日才重訓，不是當天。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今天講什麼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報告大綱；成本細節放附錄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000" y="1200000"/>
          <a:ext cx="106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9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順序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基本設定：因子／基準與實驗維度／模型與樣本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合成分怎麼來、有沒有用（IC／Fama／DM）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 選模型 → valid 調參 → 最終定案 → 績效 → 驗證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打贏大盤＋細切遞增＋不低於偷看冠軍 70% 才算過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結論＋後續（因子拓展／新模型／監控）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附錄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成本與資金；因子重要度（各時期）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策略在做什麼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交易訊號＝合成分數；成本細節見附錄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200000"/>
          <a:ext cx="110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8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步驟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股票池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上市＋上櫃；流動性過濾（近 20 日均額 ≥ 1,000 萬）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特徵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財報比率（PIT）＋月營收＋日估值／價量等（見下頁）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打分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機器學習（主：LightGBM ranking）→ 每天每股一個分數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選股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分數最高的前 top%（鎖點 top5%）等權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交易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開盤進出；持有 Y 個交易日再平衡（鎖點 Y+30）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成本／資金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固定本金 500 萬；換股收費（細節見附錄）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因子清單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t 收盤已知 → t+1 開盤交易　覆蓋率 ≥ 60% 才進模型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920000"/>
          <a:ext cx="116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200000"/>
                <a:gridCol w="3600000"/>
                <a:gridCol w="54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頻率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個數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資料來源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PIT 對齊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TEJ 財報比率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財報發布日之後才可見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TEJ 月營收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月營收發布日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價量／日估值／宏觀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當日收盤；期貨空單 lag 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2680000"/>
          <a:ext cx="116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1400000"/>
                <a:gridCol w="1000000"/>
                <a:gridCol w="6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頻率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個數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代表因子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獲利能力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ROA(C)稅前息前折舊前、ROA(A)稅後息前、ROA(B)稅後息前折舊前…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成長力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季／月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營收成長率、營業毛利成長率、已實現銷貨毛利成長率…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評價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季／日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當季季底P/E、當季季底P/B、當季季底PSR…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安全性/槓桿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現金流量比率、有息負債利率、利息支出率…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經營效率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應收帳款週轉次數、總資產週轉次數、平均收帳天數…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現金流量/每股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每股現金流量、自由現金流量(D)、現金流量允當比…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營運結構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營運槓桿度、財務槓桿度、每人營收…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市場/流動性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成交量(千股)、成交值(千元)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日估值工程因子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EP_daily、BP_daily、SP_daily…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日頻宏觀因子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fx_usd_twd、fx_usd_twd_chg_1d、fut_short_oi_chg_1d…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基準與實驗維度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基準兩條對照；下面是 valid 有掃、有調，不是一開始就鎖這一組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880000"/>
            <a:ext cx="1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基準（策略有成本、基準不扣成本 → 比較嚴）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1180000"/>
          <a:ext cx="116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5200000"/>
                <a:gridCol w="42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怎麼算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股票池等權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流動性池內股票等權平均（「平均亂猜買」）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有沒有選對股；主基準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加權指數／台指期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整體市場漲跌；輔線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0000" y="2480000"/>
            <a:ext cx="1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實驗維度（有搜有調 → valid 最高才鎖）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0000" y="2760000"/>
          <a:ext cx="11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2000000"/>
                <a:gridCol w="5000000"/>
                <a:gridCol w="3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valid／先前掃過什麼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選完才鎖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進出場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開盤／收盤都試過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開盤（t+1）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持有期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 全掃 10／22／30／33（不是先指定 30）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買幾檔 top%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 全掃 3%／5%／10%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top5%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等權／流動性／FCF／市值都試過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單檔 cap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5%…30%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形式 30%（等權下不影響）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標籤／損失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RankY MSE vs ranking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ranking loss（LGBM）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開／關都試過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模型家族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 六家只比預設；其餘五家不調參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LGBM 超參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 掃 lr×leaves×Y×top%＝192，再邊探 0.25／0.3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lr=0.2／leaves=63／n=80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模型與樣本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Walk-forward；訓練窗≈23 個不重疊持有期；樹模型 ranking，其餘回歸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920000"/>
          <a:ext cx="58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訓練窗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 Y 約 23 個不重疊持有期（對齊 Y+33：23×33＝756 日）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縮放公式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max(252, round(Y×756/33))；最短 1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再平衡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Y 日一次、不重疊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季報截止日 3/31、5/15、8/14、11/14；其後首個再平衡日才重訓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回測起點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warmup 後約 2018-03-09；樣本至 2026-06-16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進出場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 收盤 → t+1 開盤買 → t+1+Y 開盤賣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鎖點規格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開盤、Y+30、top5%、等權、不做 MAD｜Y+30 top5% LightGBM / equal | hp={"learning_rate": 0.2, "n_estimators": 80, "num_leaves": 63}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鎖點 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lr=0.2／leaves=63／n=80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000" y="920000"/>
          <a:ext cx="54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700000"/>
                <a:gridCol w="17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損失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LightGBM（鎖）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lambdarank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橫截面排序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rank:pairwise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橫截面排序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CatBoost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YetiRank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橫截面排序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Lasso／Ridge／RF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RankY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000" y="3200000"/>
          <a:ext cx="54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4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主指標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持有期 Sharpe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mean(r−rf)/std(r)×√(252/Y)；r＝再平衡期淨報酬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無風險利率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台灣十年期公債（央行月資料）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不主用日 Sharpe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持有期內日報酬高度相關，√252 易虛高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合成分怎麼來（六模型 → 鎖 LGBM）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註：六家都只比 train 預設；只有 LightGBM 走到調參。valid 不回頭換 Lasso／XGB。右下仍是單棵樹示意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pic>
        <p:nvPicPr>
          <p:cNvPr id="6" name="Picture 5" descr="lgbm_sco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00000"/>
            <a:ext cx="11478899" cy="56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合成分 IC vs 持有期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左：平均 IC；右：Newey–West t｜圖只畫曲線，讀法見下方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pic>
        <p:nvPicPr>
          <p:cNvPr id="6" name="Picture 5" descr="composite_i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880000"/>
            <a:ext cx="9774834" cy="36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4600000"/>
          <a:ext cx="11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定義／門檻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IC（左圖）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每期：橫截面 Spearman(分數, 未來 Y 日開盤報酬)；再對各期 IC 取平均 → mean IC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t（右圖）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t_NW ≈ mean(IC) / SE_NW(IC)；Newey–West 修正期與期間相關。直觀：平均 IC 相對「噪音」有多大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統計顯著門檻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|t_NW| ≥ 1.96 ≈ 約 95% 下拒絕 H0：平均 IC = 0（右圖虛線）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「訊號弱」門檻（本報告）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經濟強度看 mean IC，不是只看顯著：以高峰一半為弱訊號線（高峰 Y+25≈0.163 → 一半≈0.081）；約 Y+170 起低於一半。統計死點（|t|&lt;1.96）約 Y+380，那時 IC 已接近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本圖讀點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高峰約 Y+25（IC≈0.163）；Y+35 仍≈0.135；之後持續下滑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截面檢定＋DM（Y+30 鎖點）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先看分數能不能解釋未來報酬；再看投組期報酬有沒有贏過基準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880000"/>
          <a:ext cx="11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6200000"/>
                <a:gridCol w="3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在算什麼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Spearman IC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每期：分數 vs 未來報酬的等級相關 → 對各期 IC 做 t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IC = 0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Fama–MacBeth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每期 OLS：報酬 = a + b×分數百分位 → 對各期 b 做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 b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Q5−Q1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分數最高 20% − 最低 20% 的平均真實報酬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平均價差 = 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Diebold–Mariano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策略每期淨報酬 − 對照 → 對差額做 t（持有期不重疊）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平均超額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3100000"/>
          <a:ext cx="62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400000"/>
                <a:gridCol w="1400000"/>
                <a:gridCol w="14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FM 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Q5−Q1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CatBoost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0.176***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8.9%***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7.4%***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 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0.153***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10.1%***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8.7%***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RandomForest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0.136***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4.5%***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3.9%***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0.077***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5.9%***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4.9%***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Lasso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0.076***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0.7%nan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0.6%nan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0.073***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0.8%nan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0.8%nan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00000" y="3100000"/>
          <a:ext cx="5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1100000"/>
                <a:gridCol w="11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DM 對照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勝率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股票池等權（無成本，分數池 mean y）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7.44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同格 RankY RF（runs_top 預設超參）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台指期開盤持有 30 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7.56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同格 LightGBM 預設超參（對照鎖點 HP）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0000" y="6000000"/>
            <a:ext cx="11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讀法：左表＝分數有沒有資訊（IC／FM／Q5）；右表＝照分數組成的投組期報酬有沒有贏過等權／RF／台指（DM）。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 train：選模型家族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只用 train 段（2018-03-09～2020-12-10）｜各家族取最佳 Y×top% 持有期 Sharpe｜不看 valid／test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880000"/>
          <a:ext cx="11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92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 在做什麼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六個模型家族裡，哪個比較適合這份因子／標籤設定？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固定各家族預設超參，掃既有 Y×top% 格子，只比 train 段持有期 Sharpe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可以做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鎖死模型家族（這次＝LightGBM）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不可以做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不看 test；也不在此步定最終 Y／top%／lr／leaves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rain_model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2680000"/>
            <a:ext cx="8716753" cy="39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000" y="660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結論：LightGBM 最高（2.49），領先第2名約 0.05。其餘五家只用預設超參、train 比完即停；只有 LightGBM 走到 valid 調參。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 valid：調 Y／top%／超參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192 組＋鎖點 lr 邊探測（0.25／0.3）｜只看 valid（2020-12-10～2023-09-13）｜紅框＝valid 最高點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6" name="Picture 5" descr="val_Y_to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80000"/>
            <a:ext cx="4865191" cy="3950000"/>
          </a:xfrm>
          <a:prstGeom prst="rect">
            <a:avLst/>
          </a:prstGeom>
        </p:spPr>
      </p:pic>
      <p:pic>
        <p:nvPicPr>
          <p:cNvPr id="7" name="Picture 6" descr="val_hp_lr_le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880000"/>
            <a:ext cx="4856557" cy="395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0000" y="4900000"/>
          <a:ext cx="11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9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趨勢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從熱圖讀到的結論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Y：Y+30 明顯最高（各 Y 最佳 valid Y+10=1.77／Y+22=2.48／Y+30=3.06／Y+33=2.49）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top%：偏集中；最佳在 top5%（top3%=3.02／top5%=3.06／top10%=3.01）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learning_rate（Y+30 top5%）：0.2 達峰，0.25／0.3 邊探測回落 → 0.03→2.70／0.05→2.95／0.1→3.04／0.2→3.06／0.25→2.85／0.3→2.71（峰在 0.2）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num_leaves（同格）：63 最佳，再大到 80 略回落 → 15→2.85／31→2.91／63→3.06／80→3.01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 最高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val≈3.06 → 對應 test≈2.56（此步仍不准用 test 選點）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最終定案（預估上線規格）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全樣本（2018-03-09～2026-06-16）依日曆平分三段：train～2020-12-10／valid～2023-09-13／test 2023-09-13～2026-06-16｜主報 test Sharpe≈2.56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880000"/>
          <a:ext cx="116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LightGBM（lambdarank）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持有期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選股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top5% 等權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超參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lr=0.2／leaves=63／n=80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進出場／MAD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開盤；不做 MAD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主報指標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 段持有期 Sharpe ≈ 2.56（2023-09-13～2026-06-16）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3600000"/>
          <a:ext cx="116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4000000"/>
                <a:gridCol w="6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2018-03-09～2020-12-10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只鎖模型家族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2020-12-10～2023-09-13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鎖 Y／top%／超參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2023-09-13～2026-06-16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只評分，不可再改規格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plit_timeline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5000000"/>
            <a:ext cx="7238968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test 段淨值（雙 benchmark）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test 2023-09-13～2026-06-16｜表＝持有期年化／Sharpe（主報）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6" name="Picture 5" descr="nav_vs_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80000"/>
            <a:ext cx="7600000" cy="521722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00000" y="980000"/>
          <a:ext cx="41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000000"/>
                <a:gridCol w="850000"/>
                <a:gridCol w="85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年化報酬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MDD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197.1%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2.56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-30.6%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股票池等權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1.74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-29.4%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00000" y="2800000"/>
          <a:ext cx="41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1000000"/>
                <a:gridCol w="1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口徑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年化波動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MDD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持有期結束（主報）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76%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最差一期 -24%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持有過程最低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00000" y="5000000"/>
            <a:ext cx="41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主報 MDD＝最差一期結束時相對 500 萬（約 −24%）。持有過程最低＝同一段持有中市值最低點（約 −31%、345 萬），後來有漲回所以期末沒那麼差。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test 段績效摘要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主數字＝test 段（2023-09-13～2026-06-16）持有期 Sharpe；√(252/Y)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000" y="1200000"/>
          <a:ext cx="106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74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數值／說明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最終規格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Y+30 top5% LightGBM / equal | hp={"learning_rate": 0.2, "n_estimators": 80, "num_leaves": 63}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怎麼切樣本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全樣本（2018-03-09～2026-06-16）依日曆平分三段：train～2020-12-10／valid～2023-09-13／test 2023-09-13～2026-06-16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主報 Sharpe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2.56（只用 test 段）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對大盤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2.56 vs 大盤 1.74 → 打贏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細切（關鍵）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後50→25→12.5% 遞增：3.19 → 3.83 → 4.82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台指期＋股票池等權（見淨值圖）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est_period_r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3600000"/>
            <a:ext cx="8129094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驗證｜打贏大盤＋細切遞增＋≥冠軍70%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固定規格｜主報 test≈2.56｜總評：PASS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6" name="Picture 5" descr="stability_g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80000"/>
            <a:ext cx="5408011" cy="30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0000" y="4000000"/>
          <a:ext cx="56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1400000"/>
                <a:gridCol w="700000"/>
                <a:gridCol w="2400000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窗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 Sharpe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若該窗重選（對照）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後50%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3.19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2.00（XGBoost）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6.62（CatBoost）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後12.5%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4.82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3.22（XGBoost）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00000" y="880000"/>
          <a:ext cx="62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2500000"/>
                <a:gridCol w="1600000"/>
                <a:gridCol w="800000"/>
              </a:tblGrid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過的條件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這次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對大盤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主報 test Sharpe &gt; 大盤同期持有期 Sharpe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2.56 vs 1.74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細切遞增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後50% → 25% → 12.5% 固定規格 Sharpe 嚴格遞增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3.19 → 3.83 → 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相對冠軍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主報 test 不能低於偷看全樣本冠軍 test 的 70%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0.89（2.56/2.88）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打贏大盤 ＋ 細切遞增 ＋ ≥冠軍 70% 才算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結論與後續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規格已鎖｜主報 test Sharpe≈2.56｜PASS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880000"/>
            <a:ext cx="1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這次定案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000" y="1160000"/>
          <a:ext cx="11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00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財報＋價量 → LightGBM lambdarank 合成分 → 買 top5%、持有 Y+30、等權、不做 MAD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超參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lr=0.2／leaves=63／n=80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主報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 2023-09-13～2026-06-16 持有期 Sharpe ≈ 2.56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打贏大盤 2.56&gt;1.74｜細切遞增 3.19→3.83→4.82｜相對冠軍 0.89≥0.70 →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0000" y="3300000"/>
            <a:ext cx="1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後續（規格先不動；訊號／模型／監控之後再長）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0000" y="3600000"/>
          <a:ext cx="1160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2800000"/>
                <a:gridCol w="7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要做什麼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自動化因子拓展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現有池能過關，但訊號來源仍偏手刻。做成：候選因子 → PIT 對齊 → IC／NW-t 篩 → 只在 valid 晉級進 LGBM，test 仍只評分。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新模型對照（同一刀）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LGBM 是 train 家族第一，但沒關閉其他 ranker。用同一 train／valid／test 試 XGB/Cat 更深、或簡單 ensemble；valid 打不過就不換。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監控系統（產業分布等）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規格鎖死之後做觀測層，不回頭改參。看板看產業／板塊權重、持股集中、換手、回撤，偏離歷史再警示；換股清單與重訓日曆等實盤細節跟在後面。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附錄｜成本與資金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只對換股收費；獲利不滾入本金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980000"/>
          <a:ext cx="5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手續費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0.071%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0.071%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證交稅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滑價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0.050%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0.050%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滿倉來回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00000" y="980000"/>
          <a:ext cx="5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6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本金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500 萬，每期最多部署這麼多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獲利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sweep 到已提領，不複利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虧損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可從已提領補回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年化（熱圖）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mean(損益/500萬) × (252/Y)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NAV 圖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 段＝累積損益÷500萬（固定本金）；不是含歷史現金的 wealth%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0000" y="4000000"/>
          <a:ext cx="1160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  <a:gridCol w="29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流動性池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板塊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門檻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進場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 20 日均成交值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上市+上櫃（不含興櫃／創新板）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&gt;= 1,000 萬元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t+1 開盤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附錄｜因子重要度（時間序列）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主報定案 Y+30 top5% LightGBM（lr=0.2／leaves=63）｜重要度來自 ranking 重訓快照（與 top% 切檔無關）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附錄 B1</a:t>
            </a:r>
          </a:p>
        </p:txBody>
      </p:sp>
      <p:pic>
        <p:nvPicPr>
          <p:cNvPr id="6" name="Picture 5" descr="main_fa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0" y="980000"/>
            <a:ext cx="7600000" cy="3221645"/>
          </a:xfrm>
          <a:prstGeom prst="rect">
            <a:avLst/>
          </a:prstGeom>
        </p:spPr>
      </p:pic>
      <p:pic>
        <p:nvPicPr>
          <p:cNvPr id="7" name="Picture 6" descr="main_factor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000" y="980000"/>
            <a:ext cx="4000000" cy="32131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附錄｜因子重要度（訓練／驗證／考試）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與主報告同一刀：train～2020-12-09｜valid～2023-09-12｜test 2023-09-13～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附錄 B2</a:t>
            </a:r>
          </a:p>
        </p:txBody>
      </p:sp>
      <p:pic>
        <p:nvPicPr>
          <p:cNvPr id="6" name="Picture 5" descr="main_factor_by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1000000"/>
            <a:ext cx="11600000" cy="512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附錄｜各時期 Top 8 對照表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數字＝該段內重訓快照的平均相對重要度（當期加總 100%）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附錄 B3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" y="1050000"/>
          <a:ext cx="1160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/>
                <a:gridCol w="3600000"/>
                <a:gridCol w="3600000"/>
                <a:gridCol w="3700000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訓練段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驗證段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考試段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BP（淨值/市值）  6.8%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BP（淨值/市值）  6.9%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BP（淨值/市值）  5.8%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22日變動  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美元／台幣  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美元／台幣  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單月營收 MoM  4.4%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22日變動  4.4%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EP（盈餘/市值）  4.2%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美元／台幣  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EP（盈餘/市值）  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SP（營收/市值）  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EP（盈餘/市值）  4.3%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CFP（現金流/市值）  4.1%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CFP（現金流/市值）  3.8%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5日變動  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SP（營收/市值）  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22日變動  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SP（營收/市值）  4.0%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單月營收 MoM  3.8%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單月營收 MoM  3.6%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CFP（現金流/市值）  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5日變動  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期貨空單OI 5日變動  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0000" y="5200000"/>
            <a:ext cx="1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讀法：BP／估值類（BP、EP、SP、CFP）三段都在前段；匯率與期貨空單偏總經代理。考試段 BP 權重略降、仍居冠——核心沒換，是濃淡在調。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附錄｜TreeSHAP（橫截面）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定案 Y+30 top5% LightGBM（lr=0.2／leaves=63）｜宇宙 TSE+OTC｜重訓 2026-08-25｜解釋日 2026-10-20｜972 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SHAP 1</a:t>
            </a:r>
          </a:p>
        </p:txBody>
      </p:sp>
      <p:pic>
        <p:nvPicPr>
          <p:cNvPr id="6" name="Picture 5" descr="lgb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980000"/>
            <a:ext cx="6200000" cy="462816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0000" y="1100000"/>
          <a:ext cx="5400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1700000"/>
                <a:gridCol w="1400000"/>
                <a:gridCol w="1880000"/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因子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分開個股的比例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股利殖利率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7.2%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數值愈高，排名愈後面</a:t>
                      </a:r>
                    </a:p>
                  </a:txBody>
                  <a:tcPr>
                    <a:solidFill>
                      <a:srgbClr val="E8F3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流動比率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數值愈高，排名愈前面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借款依存度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數值愈高，排名愈後面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BP（淨值/市值）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Tobins Q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數值愈高，排名愈前面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EP（盈餘/市值）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CFP（現金流/市值）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數值愈高，排名愈前面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淨營業週期（日）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數值愈高，排名愈前面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0000" y="6100000"/>
            <a:ext cx="11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前面的 gain 圖是歷次重訓「樹分裂有多常用這個因子」。這張是 10/20 當天、這顆定案模型的 TreeSHAP，並且扣掉當天共同位移，只留會改變排名的部分。全搜尋宇宙是上市上櫃，不含創新板。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附錄｜TreeSHAP 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80000"/>
            <a:ext cx="10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  <a:latin typeface="Microsoft JhengHei"/>
                <a:ea typeface="Microsoft JhengHei"/>
                <a:cs typeface="Microsoft JhengHei"/>
              </a:rPr>
              <a:t>定案 Y+30 top5% LightGBM（lr=0.2／leaves=63）｜宇宙 TSE+OTC｜重訓 2026-08-25｜解釋日 2026-10-20｜972 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480000"/>
            <a:ext cx="11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SHAP 2</a:t>
            </a:r>
          </a:p>
        </p:txBody>
      </p:sp>
      <p:pic>
        <p:nvPicPr>
          <p:cNvPr id="6" name="Picture 5" descr="lgb_shap_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980000"/>
            <a:ext cx="7098976" cy="5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63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每一點是一檔股票。顏色偏紅＝該因子在當天偏高；點在零軸右邊＝這個因子把該檔往排名前面推。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2158</Words>
  <Application>Microsoft Office PowerPoint</Application>
  <PresentationFormat>寬螢幕</PresentationFormat>
  <Paragraphs>496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正恩 葉</cp:lastModifiedBy>
  <cp:revision>1</cp:revision>
  <dcterms:created xsi:type="dcterms:W3CDTF">2013-01-27T09:14:16Z</dcterms:created>
  <dcterms:modified xsi:type="dcterms:W3CDTF">2026-09-16T09:45:53Z</dcterms:modified>
  <cp:category/>
</cp:coreProperties>
</file>